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handoutMasterIdLst>
    <p:handoutMasterId r:id="rId3"/>
  </p:handoutMasterIdLst>
  <p:sldIdLst>
    <p:sldId id="264" r:id="rId2"/>
  </p:sldIdLst>
  <p:sldSz cx="14776450" cy="8047038"/>
  <p:notesSz cx="9931400" cy="6794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A044"/>
    <a:srgbClr val="00788B"/>
    <a:srgbClr val="096174"/>
    <a:srgbClr val="AF9E3E"/>
    <a:srgbClr val="146173"/>
    <a:srgbClr val="F2F2F2"/>
    <a:srgbClr val="006072"/>
    <a:srgbClr val="F0F0F0"/>
    <a:srgbClr val="5C8E9B"/>
    <a:srgbClr val="15293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33" d="100"/>
          <a:sy n="133" d="100"/>
        </p:scale>
        <p:origin x="247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0" d="100"/>
          <a:sy n="80" d="100"/>
        </p:scale>
        <p:origin x="3168" y="10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handoutMaster" Target="handoutMasters/handout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01D479E-7FC2-6A03-C2B1-C410DCB551D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4303607" cy="3409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0AD4CC-9427-A741-6EDC-72944AEB8C0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625496" y="1"/>
            <a:ext cx="4303607" cy="34090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E45E9A-64D2-47A1-B5E2-521B2EC1B896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73252E-28D8-11EB-75D3-89EA3F5345B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453598"/>
            <a:ext cx="4303607" cy="3409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A13BD-C26B-C9C4-E8C4-DED6F646728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625496" y="6453598"/>
            <a:ext cx="4303607" cy="34090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A819B8F-1A25-4E51-ADB9-FC6EB6547A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1714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47058" y="1316959"/>
            <a:ext cx="11082338" cy="2801561"/>
          </a:xfrm>
        </p:spPr>
        <p:txBody>
          <a:bodyPr anchor="b"/>
          <a:lstStyle>
            <a:lvl1pPr algn="ctr">
              <a:defRPr sz="7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7058" y="4226558"/>
            <a:ext cx="11082338" cy="1942838"/>
          </a:xfrm>
        </p:spPr>
        <p:txBody>
          <a:bodyPr/>
          <a:lstStyle>
            <a:lvl1pPr marL="0" indent="0" algn="ctr">
              <a:buNone/>
              <a:defRPr sz="2816"/>
            </a:lvl1pPr>
            <a:lvl2pPr marL="536478" indent="0" algn="ctr">
              <a:buNone/>
              <a:defRPr sz="2347"/>
            </a:lvl2pPr>
            <a:lvl3pPr marL="1072957" indent="0" algn="ctr">
              <a:buNone/>
              <a:defRPr sz="2112"/>
            </a:lvl3pPr>
            <a:lvl4pPr marL="1609435" indent="0" algn="ctr">
              <a:buNone/>
              <a:defRPr sz="1877"/>
            </a:lvl4pPr>
            <a:lvl5pPr marL="2145914" indent="0" algn="ctr">
              <a:buNone/>
              <a:defRPr sz="1877"/>
            </a:lvl5pPr>
            <a:lvl6pPr marL="2682392" indent="0" algn="ctr">
              <a:buNone/>
              <a:defRPr sz="1877"/>
            </a:lvl6pPr>
            <a:lvl7pPr marL="3218871" indent="0" algn="ctr">
              <a:buNone/>
              <a:defRPr sz="1877"/>
            </a:lvl7pPr>
            <a:lvl8pPr marL="3755349" indent="0" algn="ctr">
              <a:buNone/>
              <a:defRPr sz="1877"/>
            </a:lvl8pPr>
            <a:lvl9pPr marL="4291828" indent="0" algn="ctr">
              <a:buNone/>
              <a:defRPr sz="1877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4466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4435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8185" y="2006172"/>
            <a:ext cx="12744688" cy="3347344"/>
          </a:xfrm>
        </p:spPr>
        <p:txBody>
          <a:bodyPr anchor="b"/>
          <a:lstStyle>
            <a:lvl1pPr>
              <a:defRPr sz="7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8185" y="5385184"/>
            <a:ext cx="12744688" cy="1760289"/>
          </a:xfrm>
        </p:spPr>
        <p:txBody>
          <a:bodyPr/>
          <a:lstStyle>
            <a:lvl1pPr marL="0" indent="0">
              <a:buNone/>
              <a:defRPr sz="2816">
                <a:solidFill>
                  <a:schemeClr val="tx1">
                    <a:tint val="75000"/>
                  </a:schemeClr>
                </a:solidFill>
              </a:defRPr>
            </a:lvl1pPr>
            <a:lvl2pPr marL="536478" indent="0">
              <a:buNone/>
              <a:defRPr sz="2347">
                <a:solidFill>
                  <a:schemeClr val="tx1">
                    <a:tint val="75000"/>
                  </a:schemeClr>
                </a:solidFill>
              </a:defRPr>
            </a:lvl2pPr>
            <a:lvl3pPr marL="1072957" indent="0">
              <a:buNone/>
              <a:defRPr sz="2112">
                <a:solidFill>
                  <a:schemeClr val="tx1">
                    <a:tint val="75000"/>
                  </a:schemeClr>
                </a:solidFill>
              </a:defRPr>
            </a:lvl3pPr>
            <a:lvl4pPr marL="1609435" indent="0">
              <a:buNone/>
              <a:defRPr sz="1877">
                <a:solidFill>
                  <a:schemeClr val="tx1">
                    <a:tint val="75000"/>
                  </a:schemeClr>
                </a:solidFill>
              </a:defRPr>
            </a:lvl4pPr>
            <a:lvl5pPr marL="2145914" indent="0">
              <a:buNone/>
              <a:defRPr sz="1877">
                <a:solidFill>
                  <a:schemeClr val="tx1">
                    <a:tint val="75000"/>
                  </a:schemeClr>
                </a:solidFill>
              </a:defRPr>
            </a:lvl5pPr>
            <a:lvl6pPr marL="2682392" indent="0">
              <a:buNone/>
              <a:defRPr sz="1877">
                <a:solidFill>
                  <a:schemeClr val="tx1">
                    <a:tint val="75000"/>
                  </a:schemeClr>
                </a:solidFill>
              </a:defRPr>
            </a:lvl6pPr>
            <a:lvl7pPr marL="3218871" indent="0">
              <a:buNone/>
              <a:defRPr sz="1877">
                <a:solidFill>
                  <a:schemeClr val="tx1">
                    <a:tint val="75000"/>
                  </a:schemeClr>
                </a:solidFill>
              </a:defRPr>
            </a:lvl7pPr>
            <a:lvl8pPr marL="3755349" indent="0">
              <a:buNone/>
              <a:defRPr sz="1877">
                <a:solidFill>
                  <a:schemeClr val="tx1">
                    <a:tint val="75000"/>
                  </a:schemeClr>
                </a:solidFill>
              </a:defRPr>
            </a:lvl8pPr>
            <a:lvl9pPr marL="4291828" indent="0">
              <a:buNone/>
              <a:defRPr sz="187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505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15882" y="2142151"/>
            <a:ext cx="6279991" cy="5105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80579" y="2142151"/>
            <a:ext cx="6279991" cy="5105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6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805" y="428431"/>
            <a:ext cx="12744688" cy="155538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806" y="1972642"/>
            <a:ext cx="6251130" cy="966762"/>
          </a:xfrm>
        </p:spPr>
        <p:txBody>
          <a:bodyPr anchor="b"/>
          <a:lstStyle>
            <a:lvl1pPr marL="0" indent="0">
              <a:buNone/>
              <a:defRPr sz="2816" b="1"/>
            </a:lvl1pPr>
            <a:lvl2pPr marL="536478" indent="0">
              <a:buNone/>
              <a:defRPr sz="2347" b="1"/>
            </a:lvl2pPr>
            <a:lvl3pPr marL="1072957" indent="0">
              <a:buNone/>
              <a:defRPr sz="2112" b="1"/>
            </a:lvl3pPr>
            <a:lvl4pPr marL="1609435" indent="0">
              <a:buNone/>
              <a:defRPr sz="1877" b="1"/>
            </a:lvl4pPr>
            <a:lvl5pPr marL="2145914" indent="0">
              <a:buNone/>
              <a:defRPr sz="1877" b="1"/>
            </a:lvl5pPr>
            <a:lvl6pPr marL="2682392" indent="0">
              <a:buNone/>
              <a:defRPr sz="1877" b="1"/>
            </a:lvl6pPr>
            <a:lvl7pPr marL="3218871" indent="0">
              <a:buNone/>
              <a:defRPr sz="1877" b="1"/>
            </a:lvl7pPr>
            <a:lvl8pPr marL="3755349" indent="0">
              <a:buNone/>
              <a:defRPr sz="1877" b="1"/>
            </a:lvl8pPr>
            <a:lvl9pPr marL="4291828" indent="0">
              <a:buNone/>
              <a:defRPr sz="18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17806" y="2939405"/>
            <a:ext cx="6251130" cy="43234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80579" y="1972642"/>
            <a:ext cx="6281915" cy="966762"/>
          </a:xfrm>
        </p:spPr>
        <p:txBody>
          <a:bodyPr anchor="b"/>
          <a:lstStyle>
            <a:lvl1pPr marL="0" indent="0">
              <a:buNone/>
              <a:defRPr sz="2816" b="1"/>
            </a:lvl1pPr>
            <a:lvl2pPr marL="536478" indent="0">
              <a:buNone/>
              <a:defRPr sz="2347" b="1"/>
            </a:lvl2pPr>
            <a:lvl3pPr marL="1072957" indent="0">
              <a:buNone/>
              <a:defRPr sz="2112" b="1"/>
            </a:lvl3pPr>
            <a:lvl4pPr marL="1609435" indent="0">
              <a:buNone/>
              <a:defRPr sz="1877" b="1"/>
            </a:lvl4pPr>
            <a:lvl5pPr marL="2145914" indent="0">
              <a:buNone/>
              <a:defRPr sz="1877" b="1"/>
            </a:lvl5pPr>
            <a:lvl6pPr marL="2682392" indent="0">
              <a:buNone/>
              <a:defRPr sz="1877" b="1"/>
            </a:lvl6pPr>
            <a:lvl7pPr marL="3218871" indent="0">
              <a:buNone/>
              <a:defRPr sz="1877" b="1"/>
            </a:lvl7pPr>
            <a:lvl8pPr marL="3755349" indent="0">
              <a:buNone/>
              <a:defRPr sz="1877" b="1"/>
            </a:lvl8pPr>
            <a:lvl9pPr marL="4291828" indent="0">
              <a:buNone/>
              <a:defRPr sz="187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80579" y="2939405"/>
            <a:ext cx="6281915" cy="43234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864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509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9180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807" y="536469"/>
            <a:ext cx="4765789" cy="1877642"/>
          </a:xfrm>
        </p:spPr>
        <p:txBody>
          <a:bodyPr anchor="b"/>
          <a:lstStyle>
            <a:lvl1pPr>
              <a:defRPr sz="37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1916" y="1158626"/>
            <a:ext cx="7480578" cy="5718613"/>
          </a:xfrm>
        </p:spPr>
        <p:txBody>
          <a:bodyPr/>
          <a:lstStyle>
            <a:lvl1pPr>
              <a:defRPr sz="3755"/>
            </a:lvl1pPr>
            <a:lvl2pPr>
              <a:defRPr sz="3286"/>
            </a:lvl2pPr>
            <a:lvl3pPr>
              <a:defRPr sz="2816"/>
            </a:lvl3pPr>
            <a:lvl4pPr>
              <a:defRPr sz="2347"/>
            </a:lvl4pPr>
            <a:lvl5pPr>
              <a:defRPr sz="2347"/>
            </a:lvl5pPr>
            <a:lvl6pPr>
              <a:defRPr sz="2347"/>
            </a:lvl6pPr>
            <a:lvl7pPr>
              <a:defRPr sz="2347"/>
            </a:lvl7pPr>
            <a:lvl8pPr>
              <a:defRPr sz="2347"/>
            </a:lvl8pPr>
            <a:lvl9pPr>
              <a:defRPr sz="234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7807" y="2414111"/>
            <a:ext cx="4765789" cy="4472440"/>
          </a:xfrm>
        </p:spPr>
        <p:txBody>
          <a:bodyPr/>
          <a:lstStyle>
            <a:lvl1pPr marL="0" indent="0">
              <a:buNone/>
              <a:defRPr sz="1877"/>
            </a:lvl1pPr>
            <a:lvl2pPr marL="536478" indent="0">
              <a:buNone/>
              <a:defRPr sz="1643"/>
            </a:lvl2pPr>
            <a:lvl3pPr marL="1072957" indent="0">
              <a:buNone/>
              <a:defRPr sz="1408"/>
            </a:lvl3pPr>
            <a:lvl4pPr marL="1609435" indent="0">
              <a:buNone/>
              <a:defRPr sz="1173"/>
            </a:lvl4pPr>
            <a:lvl5pPr marL="2145914" indent="0">
              <a:buNone/>
              <a:defRPr sz="1173"/>
            </a:lvl5pPr>
            <a:lvl6pPr marL="2682392" indent="0">
              <a:buNone/>
              <a:defRPr sz="1173"/>
            </a:lvl6pPr>
            <a:lvl7pPr marL="3218871" indent="0">
              <a:buNone/>
              <a:defRPr sz="1173"/>
            </a:lvl7pPr>
            <a:lvl8pPr marL="3755349" indent="0">
              <a:buNone/>
              <a:defRPr sz="1173"/>
            </a:lvl8pPr>
            <a:lvl9pPr marL="4291828" indent="0">
              <a:buNone/>
              <a:defRPr sz="11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695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7807" y="536469"/>
            <a:ext cx="4765789" cy="1877642"/>
          </a:xfrm>
        </p:spPr>
        <p:txBody>
          <a:bodyPr anchor="b"/>
          <a:lstStyle>
            <a:lvl1pPr>
              <a:defRPr sz="375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81916" y="1158626"/>
            <a:ext cx="7480578" cy="5718613"/>
          </a:xfrm>
        </p:spPr>
        <p:txBody>
          <a:bodyPr anchor="t"/>
          <a:lstStyle>
            <a:lvl1pPr marL="0" indent="0">
              <a:buNone/>
              <a:defRPr sz="3755"/>
            </a:lvl1pPr>
            <a:lvl2pPr marL="536478" indent="0">
              <a:buNone/>
              <a:defRPr sz="3286"/>
            </a:lvl2pPr>
            <a:lvl3pPr marL="1072957" indent="0">
              <a:buNone/>
              <a:defRPr sz="2816"/>
            </a:lvl3pPr>
            <a:lvl4pPr marL="1609435" indent="0">
              <a:buNone/>
              <a:defRPr sz="2347"/>
            </a:lvl4pPr>
            <a:lvl5pPr marL="2145914" indent="0">
              <a:buNone/>
              <a:defRPr sz="2347"/>
            </a:lvl5pPr>
            <a:lvl6pPr marL="2682392" indent="0">
              <a:buNone/>
              <a:defRPr sz="2347"/>
            </a:lvl6pPr>
            <a:lvl7pPr marL="3218871" indent="0">
              <a:buNone/>
              <a:defRPr sz="2347"/>
            </a:lvl7pPr>
            <a:lvl8pPr marL="3755349" indent="0">
              <a:buNone/>
              <a:defRPr sz="2347"/>
            </a:lvl8pPr>
            <a:lvl9pPr marL="4291828" indent="0">
              <a:buNone/>
              <a:defRPr sz="234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17807" y="2414111"/>
            <a:ext cx="4765789" cy="4472440"/>
          </a:xfrm>
        </p:spPr>
        <p:txBody>
          <a:bodyPr/>
          <a:lstStyle>
            <a:lvl1pPr marL="0" indent="0">
              <a:buNone/>
              <a:defRPr sz="1877"/>
            </a:lvl1pPr>
            <a:lvl2pPr marL="536478" indent="0">
              <a:buNone/>
              <a:defRPr sz="1643"/>
            </a:lvl2pPr>
            <a:lvl3pPr marL="1072957" indent="0">
              <a:buNone/>
              <a:defRPr sz="1408"/>
            </a:lvl3pPr>
            <a:lvl4pPr marL="1609435" indent="0">
              <a:buNone/>
              <a:defRPr sz="1173"/>
            </a:lvl4pPr>
            <a:lvl5pPr marL="2145914" indent="0">
              <a:buNone/>
              <a:defRPr sz="1173"/>
            </a:lvl5pPr>
            <a:lvl6pPr marL="2682392" indent="0">
              <a:buNone/>
              <a:defRPr sz="1173"/>
            </a:lvl6pPr>
            <a:lvl7pPr marL="3218871" indent="0">
              <a:buNone/>
              <a:defRPr sz="1173"/>
            </a:lvl7pPr>
            <a:lvl8pPr marL="3755349" indent="0">
              <a:buNone/>
              <a:defRPr sz="1173"/>
            </a:lvl8pPr>
            <a:lvl9pPr marL="4291828" indent="0">
              <a:buNone/>
              <a:defRPr sz="117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157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603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574397" y="428431"/>
            <a:ext cx="3186173" cy="681949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15882" y="428431"/>
            <a:ext cx="9373809" cy="68194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41315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8234" y="1316962"/>
            <a:ext cx="12559982" cy="2801561"/>
          </a:xfrm>
        </p:spPr>
        <p:txBody>
          <a:bodyPr anchor="b"/>
          <a:lstStyle>
            <a:lvl1pPr algn="ctr">
              <a:defRPr sz="52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47062" y="4226558"/>
            <a:ext cx="11082338" cy="1942838"/>
          </a:xfrm>
        </p:spPr>
        <p:txBody>
          <a:bodyPr/>
          <a:lstStyle>
            <a:lvl1pPr marL="0" indent="0" algn="ctr">
              <a:buNone/>
              <a:defRPr sz="2112"/>
            </a:lvl1pPr>
            <a:lvl2pPr marL="402356" indent="0" algn="ctr">
              <a:buNone/>
              <a:defRPr sz="1760"/>
            </a:lvl2pPr>
            <a:lvl3pPr marL="804711" indent="0" algn="ctr">
              <a:buNone/>
              <a:defRPr sz="1584"/>
            </a:lvl3pPr>
            <a:lvl4pPr marL="1207067" indent="0" algn="ctr">
              <a:buNone/>
              <a:defRPr sz="1408"/>
            </a:lvl4pPr>
            <a:lvl5pPr marL="1609423" indent="0" algn="ctr">
              <a:buNone/>
              <a:defRPr sz="1408"/>
            </a:lvl5pPr>
            <a:lvl6pPr marL="2011779" indent="0" algn="ctr">
              <a:buNone/>
              <a:defRPr sz="1408"/>
            </a:lvl6pPr>
            <a:lvl7pPr marL="2414134" indent="0" algn="ctr">
              <a:buNone/>
              <a:defRPr sz="1408"/>
            </a:lvl7pPr>
            <a:lvl8pPr marL="2816490" indent="0" algn="ctr">
              <a:buNone/>
              <a:defRPr sz="1408"/>
            </a:lvl8pPr>
            <a:lvl9pPr marL="3218846" indent="0" algn="ctr">
              <a:buNone/>
              <a:defRPr sz="1408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8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5881" y="428431"/>
            <a:ext cx="12744688" cy="155538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5881" y="2142151"/>
            <a:ext cx="12744688" cy="51057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15882" y="7458414"/>
            <a:ext cx="3324700" cy="42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7F431-AE38-4E41-B80B-DA5A4A2CA180}" type="datetimeFigureOut">
              <a:rPr lang="en-US" smtClean="0"/>
              <a:t>10/1/2026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94701" y="7458414"/>
            <a:ext cx="4987051" cy="42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35870" y="7458414"/>
            <a:ext cx="3324700" cy="4284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34817D-7993-4914-B61C-2187C96BF51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57965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61" r:id="rId12"/>
  </p:sldLayoutIdLst>
  <p:txStyles>
    <p:titleStyle>
      <a:lvl1pPr algn="l" defTabSz="1072957" rtl="0" eaLnBrk="1" latinLnBrk="0" hangingPunct="1">
        <a:lnSpc>
          <a:spcPct val="90000"/>
        </a:lnSpc>
        <a:spcBef>
          <a:spcPct val="0"/>
        </a:spcBef>
        <a:buNone/>
        <a:defRPr sz="516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8239" indent="-268239" algn="l" defTabSz="1072957" rtl="0" eaLnBrk="1" latinLnBrk="0" hangingPunct="1">
        <a:lnSpc>
          <a:spcPct val="90000"/>
        </a:lnSpc>
        <a:spcBef>
          <a:spcPts val="1173"/>
        </a:spcBef>
        <a:buFont typeface="Arial" panose="020B0604020202020204" pitchFamily="34" charset="0"/>
        <a:buChar char="•"/>
        <a:defRPr sz="3286" kern="1200">
          <a:solidFill>
            <a:schemeClr val="tx1"/>
          </a:solidFill>
          <a:latin typeface="+mn-lt"/>
          <a:ea typeface="+mn-ea"/>
          <a:cs typeface="+mn-cs"/>
        </a:defRPr>
      </a:lvl1pPr>
      <a:lvl2pPr marL="804718" indent="-268239" algn="l" defTabSz="107295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2816" kern="1200">
          <a:solidFill>
            <a:schemeClr val="tx1"/>
          </a:solidFill>
          <a:latin typeface="+mn-lt"/>
          <a:ea typeface="+mn-ea"/>
          <a:cs typeface="+mn-cs"/>
        </a:defRPr>
      </a:lvl2pPr>
      <a:lvl3pPr marL="1341196" indent="-268239" algn="l" defTabSz="107295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2347" kern="1200">
          <a:solidFill>
            <a:schemeClr val="tx1"/>
          </a:solidFill>
          <a:latin typeface="+mn-lt"/>
          <a:ea typeface="+mn-ea"/>
          <a:cs typeface="+mn-cs"/>
        </a:defRPr>
      </a:lvl3pPr>
      <a:lvl4pPr marL="1877675" indent="-268239" algn="l" defTabSz="107295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4pPr>
      <a:lvl5pPr marL="2414153" indent="-268239" algn="l" defTabSz="107295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5pPr>
      <a:lvl6pPr marL="2950632" indent="-268239" algn="l" defTabSz="107295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6pPr>
      <a:lvl7pPr marL="3487110" indent="-268239" algn="l" defTabSz="107295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7pPr>
      <a:lvl8pPr marL="4023589" indent="-268239" algn="l" defTabSz="107295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8pPr>
      <a:lvl9pPr marL="4560067" indent="-268239" algn="l" defTabSz="1072957" rtl="0" eaLnBrk="1" latinLnBrk="0" hangingPunct="1">
        <a:lnSpc>
          <a:spcPct val="90000"/>
        </a:lnSpc>
        <a:spcBef>
          <a:spcPts val="587"/>
        </a:spcBef>
        <a:buFont typeface="Arial" panose="020B0604020202020204" pitchFamily="34" charset="0"/>
        <a:buChar char="•"/>
        <a:defRPr sz="211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1pPr>
      <a:lvl2pPr marL="536478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2pPr>
      <a:lvl3pPr marL="1072957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3pPr>
      <a:lvl4pPr marL="1609435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4pPr>
      <a:lvl5pPr marL="2145914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5pPr>
      <a:lvl6pPr marL="2682392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6pPr>
      <a:lvl7pPr marL="3218871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7pPr>
      <a:lvl8pPr marL="3755349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8pPr>
      <a:lvl9pPr marL="4291828" algn="l" defTabSz="1072957" rtl="0" eaLnBrk="1" latinLnBrk="0" hangingPunct="1">
        <a:defRPr sz="2112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hyperlink" Target="mailto:customerservice@kmefic.com.kw" TargetMode="External"/><Relationship Id="rId7" Type="http://schemas.openxmlformats.org/officeDocument/2006/relationships/hyperlink" Target="https://linktr.ee/KMEFIC" TargetMode="External"/><Relationship Id="rId2" Type="http://schemas.openxmlformats.org/officeDocument/2006/relationships/hyperlink" Target="https://www.boursakuwait.com.kw/ar/resources/product-information/rights-issue" TargetMode="Externa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svg"/><Relationship Id="rId11" Type="http://schemas.openxmlformats.org/officeDocument/2006/relationships/image" Target="../media/image6.png"/><Relationship Id="rId5" Type="http://schemas.openxmlformats.org/officeDocument/2006/relationships/image" Target="../media/image1.png"/><Relationship Id="rId10" Type="http://schemas.openxmlformats.org/officeDocument/2006/relationships/image" Target="../media/image5.png"/><Relationship Id="rId4" Type="http://schemas.openxmlformats.org/officeDocument/2006/relationships/hyperlink" Target="https://www.boursakuwait.com.kw/en/resources/product-information/rights-issue" TargetMode="External"/><Relationship Id="rId9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9BFA63-D9B4-4D16-DE50-1051001F5DFB}"/>
              </a:ext>
            </a:extLst>
          </p:cNvPr>
          <p:cNvSpPr txBox="1"/>
          <p:nvPr/>
        </p:nvSpPr>
        <p:spPr>
          <a:xfrm>
            <a:off x="3957639" y="2020954"/>
            <a:ext cx="4010771" cy="355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>
              <a:lnSpc>
                <a:spcPct val="107000"/>
              </a:lnSpc>
            </a:pPr>
            <a:r>
              <a:rPr lang="ar-EG" sz="1600" b="1" dirty="0">
                <a:solidFill>
                  <a:srgbClr val="000000"/>
                </a:solidFill>
                <a:latin typeface="Eurostile" panose="020B0504020202050204" pitchFamily="34" charset="0"/>
                <a:ea typeface="GE SS Two Medium" panose="020A0503020102020204" pitchFamily="18" charset="-78"/>
                <a:cs typeface="GE SS Two Medium" panose="020A0503020102020204" pitchFamily="18" charset="-78"/>
              </a:rPr>
              <a:t>السادة عملائنا الكرام،</a:t>
            </a:r>
          </a:p>
        </p:txBody>
      </p:sp>
      <p:sp>
        <p:nvSpPr>
          <p:cNvPr id="3" name="TextBox 26">
            <a:extLst>
              <a:ext uri="{FF2B5EF4-FFF2-40B4-BE49-F238E27FC236}">
                <a16:creationId xmlns:a16="http://schemas.microsoft.com/office/drawing/2014/main" id="{EA312E73-1D0F-E05F-7D41-6DC713E8619F}"/>
              </a:ext>
            </a:extLst>
          </p:cNvPr>
          <p:cNvSpPr txBox="1"/>
          <p:nvPr/>
        </p:nvSpPr>
        <p:spPr>
          <a:xfrm>
            <a:off x="4394742" y="2309089"/>
            <a:ext cx="3571287" cy="5393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rtl="1">
              <a:lnSpc>
                <a:spcPct val="107000"/>
              </a:lnSpc>
            </a:pPr>
            <a:r>
              <a:rPr lang="ar-KW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يرجى الاطلاع على معلومات تداول حقوق الأولوية على الرابط التالي: </a:t>
            </a:r>
            <a:r>
              <a:rPr lang="ar-KW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  <a:hlinkClick r:id="rId2"/>
              </a:rPr>
              <a:t>حقوق الأولوية</a:t>
            </a:r>
            <a:endParaRPr lang="ar-KW" sz="13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endParaRPr lang="ar-KW" sz="8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ar-KW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وفي حال تم شراء حقوق الأولوية لغرض الاكتتاب فيتعين على العميل تعبئة نموذج طلب الاكتتاب المرفق وإرساله الى البريد الالكتروني  </a:t>
            </a: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  <a:hlinkClick r:id="rId3"/>
              </a:rPr>
              <a:t>customerservice@kmefic.com.kw</a:t>
            </a:r>
            <a:endParaRPr lang="en-US" sz="13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endParaRPr lang="en-US" sz="14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ar-KW" sz="1400" b="1" dirty="0">
                <a:latin typeface="GE SS Text Medium" panose="020A0503020102020204" pitchFamily="18" charset="-78"/>
                <a:ea typeface="GE SS Text Medium" panose="020A0503020102020204" pitchFamily="18" charset="-78"/>
                <a:cs typeface="GE SS Text Medium" panose="020A0503020102020204" pitchFamily="18" charset="-78"/>
              </a:rPr>
              <a:t>كحد أقصى في {{LAST_AR}}</a:t>
            </a:r>
            <a:r>
              <a:rPr lang="ar-KW" sz="1600" b="1" dirty="0">
                <a:latin typeface="GE SS Text Medium" panose="020A0503020102020204" pitchFamily="18" charset="-78"/>
                <a:ea typeface="GE SS Text Medium" panose="020A0503020102020204" pitchFamily="18" charset="-78"/>
                <a:cs typeface="GE SS Text Medium" panose="020A0503020102020204" pitchFamily="18" charset="-78"/>
              </a:rPr>
              <a:t>.</a:t>
            </a:r>
          </a:p>
          <a:p>
            <a:pPr algn="just" rtl="1">
              <a:lnSpc>
                <a:spcPct val="107000"/>
              </a:lnSpc>
            </a:pPr>
            <a:endParaRPr lang="ar-KW" sz="14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ar-KW" sz="1300" b="1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ملاحظة</a:t>
            </a:r>
            <a:r>
              <a:rPr lang="ar-KW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: يرجى العلم بأنه سيتم خصم كافة المصاريف المتعلقة بعملية الاكتتاب أعلاه من حسابكم لدينا في حال الاكتتاب. </a:t>
            </a:r>
          </a:p>
          <a:p>
            <a:pPr algn="just" rtl="1">
              <a:lnSpc>
                <a:spcPct val="107000"/>
              </a:lnSpc>
            </a:pPr>
            <a:endParaRPr lang="ar-EG" sz="24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ar-KW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للإستفسار أو لمزيد من المعلومات، يرجى عدم التردد بالإتصال على خدمة العملاء </a:t>
            </a:r>
            <a:endParaRPr lang="en-US" sz="13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ar-KW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هاتف رقم 22255555</a:t>
            </a:r>
            <a:r>
              <a:rPr lang="ar-EG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-</a:t>
            </a:r>
            <a:r>
              <a:rPr lang="ar-KW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 965</a:t>
            </a:r>
            <a:r>
              <a:rPr lang="ar-EG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+</a:t>
            </a:r>
            <a:endParaRPr lang="en-US" sz="13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ar-KW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عبر البريد الإلكتروني</a:t>
            </a:r>
            <a:r>
              <a:rPr lang="ar-EG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 </a:t>
            </a:r>
            <a:endParaRPr lang="en-US" sz="13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en-US" sz="1300" dirty="0">
                <a:solidFill>
                  <a:srgbClr val="146173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  <a:hlinkClick r:id="rId3"/>
              </a:rPr>
              <a:t>customerservice@kmefic.com.kw</a:t>
            </a:r>
            <a:endParaRPr lang="en-US" sz="1300" dirty="0">
              <a:solidFill>
                <a:srgbClr val="146173"/>
              </a:solidFill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endParaRPr lang="en-US" sz="8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ar-KW" sz="1300" dirty="0">
                <a:solidFill>
                  <a:srgbClr val="AF9E3E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وتفضلوا بقبول فائق الإحترام والتقدير،</a:t>
            </a:r>
          </a:p>
          <a:p>
            <a:pPr algn="just" rtl="1">
              <a:lnSpc>
                <a:spcPct val="107000"/>
              </a:lnSpc>
            </a:pPr>
            <a:r>
              <a:rPr lang="ar-KW" sz="1300" b="1" dirty="0">
                <a:solidFill>
                  <a:srgbClr val="146173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خدمة العملاء </a:t>
            </a:r>
          </a:p>
          <a:p>
            <a:pPr algn="just" rtl="1">
              <a:lnSpc>
                <a:spcPct val="107000"/>
              </a:lnSpc>
            </a:pPr>
            <a:r>
              <a:rPr lang="ar-KW" sz="1300" dirty="0">
                <a:solidFill>
                  <a:srgbClr val="146173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شـركة الكـويت والشـرق الأوسـط للإستثــــمار المــالي</a:t>
            </a:r>
            <a:endParaRPr lang="en-US" sz="1300" dirty="0">
              <a:solidFill>
                <a:srgbClr val="146173"/>
              </a:solidFill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 rtl="1">
              <a:lnSpc>
                <a:spcPct val="107000"/>
              </a:lnSpc>
            </a:pPr>
            <a:r>
              <a:rPr lang="ar-KW" sz="1300" dirty="0">
                <a:solidFill>
                  <a:srgbClr val="146173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كميفك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7BBC13-2CB6-2833-3695-AB8BBFC9699D}"/>
              </a:ext>
            </a:extLst>
          </p:cNvPr>
          <p:cNvSpPr txBox="1"/>
          <p:nvPr/>
        </p:nvSpPr>
        <p:spPr>
          <a:xfrm>
            <a:off x="511755" y="2029462"/>
            <a:ext cx="4096579" cy="337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rtl="1">
              <a:lnSpc>
                <a:spcPct val="107000"/>
              </a:lnSpc>
            </a:pPr>
            <a:r>
              <a:rPr lang="en-US" sz="1600" b="1" dirty="0">
                <a:solidFill>
                  <a:srgbClr val="000000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Dear Valued Clients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9CE375F-5495-254B-4526-63E5CA6CE0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37678699"/>
              </p:ext>
            </p:extLst>
          </p:nvPr>
        </p:nvGraphicFramePr>
        <p:xfrm>
          <a:off x="8535253" y="1722708"/>
          <a:ext cx="6132514" cy="5439456"/>
        </p:xfrm>
        <a:graphic>
          <a:graphicData uri="http://schemas.openxmlformats.org/drawingml/2006/table">
            <a:tbl>
              <a:tblPr firstRow="1" firstCol="1" bandRow="1">
                <a:tableStyleId>{2D5ABB26-0587-4C30-8999-92F81FD0307C}</a:tableStyleId>
              </a:tblPr>
              <a:tblGrid>
                <a:gridCol w="1480328">
                  <a:extLst>
                    <a:ext uri="{9D8B030D-6E8A-4147-A177-3AD203B41FA5}">
                      <a16:colId xmlns:a16="http://schemas.microsoft.com/office/drawing/2014/main" val="2718339121"/>
                    </a:ext>
                  </a:extLst>
                </a:gridCol>
                <a:gridCol w="1769950">
                  <a:extLst>
                    <a:ext uri="{9D8B030D-6E8A-4147-A177-3AD203B41FA5}">
                      <a16:colId xmlns:a16="http://schemas.microsoft.com/office/drawing/2014/main" val="709593616"/>
                    </a:ext>
                  </a:extLst>
                </a:gridCol>
                <a:gridCol w="1749274">
                  <a:extLst>
                    <a:ext uri="{9D8B030D-6E8A-4147-A177-3AD203B41FA5}">
                      <a16:colId xmlns:a16="http://schemas.microsoft.com/office/drawing/2014/main" val="3043046673"/>
                    </a:ext>
                  </a:extLst>
                </a:gridCol>
                <a:gridCol w="1132962">
                  <a:extLst>
                    <a:ext uri="{9D8B030D-6E8A-4147-A177-3AD203B41FA5}">
                      <a16:colId xmlns:a16="http://schemas.microsoft.com/office/drawing/2014/main" val="3598000778"/>
                    </a:ext>
                  </a:extLst>
                </a:gridCol>
              </a:tblGrid>
              <a:tr h="450000">
                <a:tc gridSpan="2">
                  <a:txBody>
                    <a:bodyPr/>
                    <a:lstStyle/>
                    <a:p>
                      <a:pPr marL="0" marR="0"/>
                      <a:r>
                        <a:rPr lang="en-US" sz="1600" b="1" dirty="0">
                          <a:solidFill>
                            <a:srgbClr val="146173"/>
                          </a:solidFill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Kuwait, {{D_DAY}}</a:t>
                      </a:r>
                      <a:r>
                        <a:rPr lang="en-US" sz="1600" b="1" baseline="30000" dirty="0">
                          <a:solidFill>
                            <a:srgbClr val="146173"/>
                          </a:solidFill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{{D_SUF}}</a:t>
                      </a:r>
                      <a:r>
                        <a:rPr lang="en-US" sz="1600" b="1" dirty="0">
                          <a:solidFill>
                            <a:srgbClr val="146173"/>
                          </a:solidFill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 {{D_MY_EN}}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600" b="1" dirty="0">
                          <a:solidFill>
                            <a:srgbClr val="146173"/>
                          </a:solidFill>
                          <a:effectLst/>
                          <a:latin typeface="GE SS Text Medium" panose="020A0503020102020204" pitchFamily="18" charset="-78"/>
                          <a:ea typeface="GE SS Text Medium" panose="020A0503020102020204" pitchFamily="18" charset="-78"/>
                          <a:cs typeface="GE SS Text Medium" panose="020A0503020102020204" pitchFamily="18" charset="-78"/>
                        </a:rPr>
                        <a:t>الكويت {{D_AR}}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71688"/>
                  </a:ext>
                </a:extLst>
              </a:tr>
              <a:tr h="340000">
                <a:tc gridSpan="2">
                  <a:txBody>
                    <a:bodyPr/>
                    <a:lstStyle/>
                    <a:p>
                      <a:pPr marL="0" marR="0"/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Capital Increase Information</a:t>
                      </a:r>
                      <a:endParaRPr lang="en-US" sz="14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200" b="1" cap="all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معلومات زيادة رأس المال</a:t>
                      </a:r>
                      <a:endParaRPr lang="en-US" sz="12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79893550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Market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 rtl="1"/>
                      <a:r>
                        <a:rPr lang="ar-KW" sz="12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بورصة الكويت - </a:t>
                      </a:r>
                      <a:r>
                        <a:rPr lang="en-US" sz="1200" dirty="0" err="1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Boursa</a:t>
                      </a:r>
                      <a:r>
                        <a:rPr lang="en-US" sz="12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 Kuwait</a:t>
                      </a:r>
                      <a:endParaRPr lang="en-US" sz="1400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 rtl="1"/>
                      <a:r>
                        <a:rPr lang="ar-SA" sz="1200" b="1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السوق</a:t>
                      </a:r>
                      <a:endParaRPr lang="en-US" sz="1400" b="1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81349048"/>
                  </a:ext>
                </a:extLst>
              </a:tr>
              <a:tr h="24145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Script #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 rtl="1"/>
                      <a:r>
                        <a:rPr lang="ar-KW" sz="12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{{SCRIPT}}</a:t>
                      </a:r>
                      <a:r>
                        <a:rPr lang="en-US" sz="12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/>
                      </a:r>
                      <a:r>
                        <a:rPr lang="ar-KW" sz="12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/>
                      </a:r>
                      <a:r>
                        <a:rPr lang="en-US" sz="12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/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 rtl="1"/>
                      <a:r>
                        <a:rPr lang="ar-KW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رمز الشركة</a:t>
                      </a:r>
                      <a:endParaRPr lang="en-US" sz="14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88303635"/>
                  </a:ext>
                </a:extLst>
              </a:tr>
              <a:tr h="56000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</a:pPr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Company Name </a:t>
                      </a:r>
                      <a:endParaRPr lang="en-US" sz="14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KW" sz="12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{{CO_AR_FULL}}</a:t>
                      </a:r>
                    </a:p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{{CO_EN_FULL}}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 rtl="1">
                        <a:spcBef>
                          <a:spcPts val="0"/>
                        </a:spcBef>
                      </a:pPr>
                      <a:r>
                        <a:rPr lang="ar-SA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اسم الشركة</a:t>
                      </a:r>
                      <a:endParaRPr lang="en-US" sz="14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71846891"/>
                  </a:ext>
                </a:extLst>
              </a:tr>
              <a:tr h="470080">
                <a:tc>
                  <a:txBody>
                    <a:bodyPr/>
                    <a:lstStyle/>
                    <a:p>
                      <a:pPr marL="0" marR="0"/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Rights Issue Percentage</a:t>
                      </a:r>
                      <a:endParaRPr lang="en-US" sz="14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{{PCT}} %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SA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نسبة الاكتتاب %</a:t>
                      </a:r>
                      <a:endParaRPr lang="en-US" sz="12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2190600"/>
                  </a:ext>
                </a:extLst>
              </a:tr>
              <a:tr h="820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Subscription Price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KW" sz="14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{{PRICE}} فلس كويتي للسهم</a:t>
                      </a:r>
                    </a:p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KW" sz="1400" b="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({{PAR}} فلس القيمة الأسمية)</a:t>
                      </a:r>
                    </a:p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{{PRICE}} Kuwaiti Fils per share</a:t>
                      </a:r>
                    </a:p>
                    <a:p>
                      <a:pPr marL="0" marR="0" algn="ctr" rtl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b="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(Fils par value {{PAR}})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KW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سعر الاكتتاب </a:t>
                      </a:r>
                      <a:endParaRPr lang="en-US" sz="12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556502150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Cum. Date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{{CUM}}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KW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تاريخ حيازة السهم</a:t>
                      </a:r>
                      <a:endParaRPr lang="en-US" sz="12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8983641"/>
                  </a:ext>
                </a:extLst>
              </a:tr>
              <a:tr h="42000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Rights Trading Period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{{RT_FROM}} – {{RT_TO}}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 rtl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ar-KW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فترة تداول الحقوق</a:t>
                      </a:r>
                      <a:endParaRPr lang="en-US" sz="12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18983641"/>
                  </a:ext>
                </a:extLst>
              </a:tr>
              <a:tr h="905370">
                <a:tc>
                  <a:txBody>
                    <a:bodyPr/>
                    <a:lstStyle/>
                    <a:p>
                      <a:pPr marL="0" marR="0"/>
                      <a:r>
                        <a:rPr lang="en-US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Last day to receive the capital increase request form by KMEFIC:</a:t>
                      </a:r>
                      <a:endParaRPr lang="en-US" sz="14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0" marR="0" algn="ctr" rtl="1"/>
                      <a:r>
                        <a:rPr lang="en-US" sz="1400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{{LAST}} </a:t>
                      </a: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r" rtl="1"/>
                      <a:r>
                        <a:rPr lang="ar-SA" sz="1200" b="1" dirty="0">
                          <a:effectLst/>
                          <a:latin typeface="Eurostile" panose="020B0504020202050204" pitchFamily="34" charset="0"/>
                          <a:ea typeface="GE SS Text Light" panose="020A0503020102020204" pitchFamily="18" charset="-78"/>
                          <a:cs typeface="GE SS Text Light" panose="020A0503020102020204" pitchFamily="18" charset="-78"/>
                        </a:rPr>
                        <a:t>أخر يوم لتقديم طلب الاكتتاب لدى كميفك</a:t>
                      </a:r>
                      <a:endParaRPr lang="en-US" sz="1400" b="1" dirty="0">
                        <a:effectLst/>
                        <a:latin typeface="Eurostile" panose="020B0504020202050204" pitchFamily="34" charset="0"/>
                        <a:ea typeface="GE SS Text Light" panose="020A0503020102020204" pitchFamily="18" charset="-78"/>
                        <a:cs typeface="GE SS Text Light" panose="020A0503020102020204" pitchFamily="18" charset="-78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4617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401664127"/>
                  </a:ext>
                </a:extLst>
              </a:tr>
            </a:tbl>
          </a:graphicData>
        </a:graphic>
      </p:graphicFrame>
      <p:sp>
        <p:nvSpPr>
          <p:cNvPr id="6" name="TextBox 26">
            <a:extLst>
              <a:ext uri="{FF2B5EF4-FFF2-40B4-BE49-F238E27FC236}">
                <a16:creationId xmlns:a16="http://schemas.microsoft.com/office/drawing/2014/main" id="{DEB59DBB-3374-00C4-2CC2-90D004A61930}"/>
              </a:ext>
            </a:extLst>
          </p:cNvPr>
          <p:cNvSpPr txBox="1"/>
          <p:nvPr/>
        </p:nvSpPr>
        <p:spPr>
          <a:xfrm>
            <a:off x="509374" y="2326298"/>
            <a:ext cx="3716086" cy="52969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07000"/>
              </a:lnSpc>
            </a:pP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Please find the following link for more information regarding the tradable rights issue: </a:t>
            </a: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  <a:hlinkClick r:id="rId4"/>
              </a:rPr>
              <a:t>Rights Issue </a:t>
            </a:r>
            <a:endParaRPr lang="en-US" sz="13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endParaRPr lang="en-US" sz="8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In case you buy the rights issue tradable shares for the purpose of participating in the rights issue, the attached request must be filled and sent to </a:t>
            </a: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  <a:hlinkClick r:id="rId3"/>
              </a:rPr>
              <a:t>customerservice@kmefic.com.kw</a:t>
            </a:r>
            <a:endParaRPr lang="en-US" sz="13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endParaRPr lang="en-US" sz="1400" b="1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r>
              <a:rPr lang="en-US" sz="1400" b="1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Maximum by the {{LAST_DAY}}</a:t>
            </a:r>
            <a:r>
              <a:rPr lang="en-US" sz="1400" b="1" baseline="300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{{LAST_SUF}}</a:t>
            </a:r>
            <a:r>
              <a:rPr lang="en-US" sz="1400" b="1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 {{LAST_MY_EN}}.</a:t>
            </a:r>
          </a:p>
          <a:p>
            <a:pPr algn="just">
              <a:lnSpc>
                <a:spcPct val="107000"/>
              </a:lnSpc>
            </a:pPr>
            <a:endParaRPr lang="en-US" sz="2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endParaRPr lang="en-US" sz="1100" b="1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r>
              <a:rPr lang="en-US" sz="1300" b="1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Note</a:t>
            </a: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: In the case where you subscribe, kindly be informed that all fees related to the above-mentioned subscription will be deducted from your account. </a:t>
            </a:r>
          </a:p>
          <a:p>
            <a:pPr algn="just">
              <a:lnSpc>
                <a:spcPct val="107000"/>
              </a:lnSpc>
            </a:pPr>
            <a:endParaRPr lang="en-US" sz="14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For further information, please do not hesitate to contact Customer Service at </a:t>
            </a:r>
          </a:p>
          <a:p>
            <a:pPr algn="just">
              <a:lnSpc>
                <a:spcPct val="107000"/>
              </a:lnSpc>
            </a:pP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Tel: +965</a:t>
            </a:r>
            <a:r>
              <a:rPr lang="ar-EG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-</a:t>
            </a: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2225 5555 </a:t>
            </a:r>
          </a:p>
          <a:p>
            <a:pPr algn="just">
              <a:lnSpc>
                <a:spcPct val="107000"/>
              </a:lnSpc>
            </a:pPr>
            <a:r>
              <a:rPr lang="en-US" sz="1300" dirty="0"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Email: </a:t>
            </a:r>
            <a:endParaRPr lang="ar-EG" sz="13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r>
              <a:rPr lang="en-US" sz="1300" dirty="0">
                <a:solidFill>
                  <a:srgbClr val="146173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  <a:hlinkClick r:id="rId3"/>
              </a:rPr>
              <a:t>customerservice@kmefic.com.kw</a:t>
            </a:r>
            <a:endParaRPr lang="en-US" sz="1300" dirty="0">
              <a:solidFill>
                <a:srgbClr val="146173"/>
              </a:solidFill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endParaRPr lang="en-US" sz="700"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  <a:p>
            <a:pPr algn="just">
              <a:lnSpc>
                <a:spcPct val="107000"/>
              </a:lnSpc>
            </a:pPr>
            <a:r>
              <a:rPr lang="en-US" sz="1300" dirty="0">
                <a:solidFill>
                  <a:srgbClr val="AF9E3E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Thanks, and best regards,</a:t>
            </a:r>
          </a:p>
          <a:p>
            <a:pPr algn="just">
              <a:lnSpc>
                <a:spcPct val="107000"/>
              </a:lnSpc>
            </a:pPr>
            <a:r>
              <a:rPr lang="en-US" sz="1300" b="1" dirty="0">
                <a:solidFill>
                  <a:srgbClr val="146173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Customer Service</a:t>
            </a:r>
          </a:p>
          <a:p>
            <a:pPr algn="just">
              <a:lnSpc>
                <a:spcPct val="107000"/>
              </a:lnSpc>
            </a:pPr>
            <a:r>
              <a:rPr lang="en-US" sz="1300" dirty="0">
                <a:solidFill>
                  <a:srgbClr val="146173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Kuwait and Middle East Financial Investment Co.</a:t>
            </a:r>
          </a:p>
          <a:p>
            <a:pPr algn="just">
              <a:lnSpc>
                <a:spcPct val="107000"/>
              </a:lnSpc>
            </a:pPr>
            <a:r>
              <a:rPr lang="en-US" sz="1300" dirty="0">
                <a:solidFill>
                  <a:srgbClr val="146173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KMEFIC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F6BB92-E83C-A8A9-5F62-36606AEAFDF3}"/>
              </a:ext>
            </a:extLst>
          </p:cNvPr>
          <p:cNvSpPr/>
          <p:nvPr/>
        </p:nvSpPr>
        <p:spPr>
          <a:xfrm>
            <a:off x="-5808" y="0"/>
            <a:ext cx="14782258" cy="1545540"/>
          </a:xfrm>
          <a:prstGeom prst="rect">
            <a:avLst/>
          </a:prstGeom>
          <a:solidFill>
            <a:srgbClr val="0046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B98B015-2977-DC28-53A5-C8964AFBC77D}"/>
              </a:ext>
            </a:extLst>
          </p:cNvPr>
          <p:cNvSpPr/>
          <p:nvPr/>
        </p:nvSpPr>
        <p:spPr>
          <a:xfrm>
            <a:off x="-5808" y="1545540"/>
            <a:ext cx="11501438" cy="91440"/>
          </a:xfrm>
          <a:prstGeom prst="rect">
            <a:avLst/>
          </a:prstGeom>
          <a:solidFill>
            <a:srgbClr val="007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EF5933E-D455-6FEB-00A3-21B49E5843AF}"/>
              </a:ext>
            </a:extLst>
          </p:cNvPr>
          <p:cNvSpPr/>
          <p:nvPr/>
        </p:nvSpPr>
        <p:spPr>
          <a:xfrm>
            <a:off x="11495630" y="1545540"/>
            <a:ext cx="3280820" cy="91440"/>
          </a:xfrm>
          <a:prstGeom prst="rect">
            <a:avLst/>
          </a:prstGeom>
          <a:solidFill>
            <a:srgbClr val="C4A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357FB37-2957-CEDB-664F-FD6356B792B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192"/>
          <a:stretch>
            <a:fillRect/>
          </a:stretch>
        </p:blipFill>
        <p:spPr>
          <a:xfrm>
            <a:off x="13124460" y="48250"/>
            <a:ext cx="1628831" cy="1501012"/>
          </a:xfrm>
          <a:prstGeom prst="rect">
            <a:avLst/>
          </a:prstGeom>
        </p:spPr>
      </p:pic>
      <p:sp>
        <p:nvSpPr>
          <p:cNvPr id="8" name="TextBox 22">
            <a:extLst>
              <a:ext uri="{FF2B5EF4-FFF2-40B4-BE49-F238E27FC236}">
                <a16:creationId xmlns:a16="http://schemas.microsoft.com/office/drawing/2014/main" id="{16ECD695-171F-DD53-1266-197715E5C75D}"/>
              </a:ext>
            </a:extLst>
          </p:cNvPr>
          <p:cNvSpPr txBox="1"/>
          <p:nvPr/>
        </p:nvSpPr>
        <p:spPr>
          <a:xfrm>
            <a:off x="6711388" y="358438"/>
            <a:ext cx="5860182" cy="1125299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>
              <a:lnSpc>
                <a:spcPts val="2600"/>
              </a:lnSpc>
            </a:pPr>
            <a:r>
              <a:rPr lang="ar-KW" sz="3200" b="1" dirty="0">
                <a:solidFill>
                  <a:schemeClr val="bg1"/>
                </a:solidFill>
                <a:latin typeface="Eurostile" panose="020B0504020202050204" pitchFamily="34" charset="0"/>
                <a:ea typeface="GE SS Two Medium" panose="020A0503020102020204" pitchFamily="18" charset="-78"/>
                <a:cs typeface="GE SS Two Medium" panose="020A0503020102020204" pitchFamily="18" charset="-78"/>
              </a:rPr>
              <a:t>زيادة رأس مال</a:t>
            </a:r>
          </a:p>
          <a:p>
            <a:pPr algn="r" rtl="1">
              <a:lnSpc>
                <a:spcPts val="2600"/>
              </a:lnSpc>
            </a:pPr>
            <a:r>
              <a:rPr lang="ar-EG" sz="1600" b="1" dirty="0">
                <a:solidFill>
                  <a:schemeClr val="bg1"/>
                </a:solidFill>
                <a:latin typeface="Eurostile" panose="020B0504020202050204" pitchFamily="34" charset="0"/>
                <a:ea typeface="GE SS Two Medium" panose="020A0503020102020204" pitchFamily="18" charset="-78"/>
                <a:cs typeface="GE SS Two Medium" panose="020A0503020102020204" pitchFamily="18" charset="-78"/>
              </a:rPr>
              <a:t>زيادة رأس المال {{CO_AR_FULL}}</a:t>
            </a:r>
          </a:p>
        </p:txBody>
      </p:sp>
      <p:sp>
        <p:nvSpPr>
          <p:cNvPr id="10" name="TextBox 27">
            <a:extLst>
              <a:ext uri="{FF2B5EF4-FFF2-40B4-BE49-F238E27FC236}">
                <a16:creationId xmlns:a16="http://schemas.microsoft.com/office/drawing/2014/main" id="{8BE1D51B-6B87-079E-3A72-99704916C71B}"/>
              </a:ext>
            </a:extLst>
          </p:cNvPr>
          <p:cNvSpPr txBox="1"/>
          <p:nvPr/>
        </p:nvSpPr>
        <p:spPr>
          <a:xfrm>
            <a:off x="1292146" y="442647"/>
            <a:ext cx="5301502" cy="961927"/>
          </a:xfrm>
          <a:prstGeom prst="rect">
            <a:avLst/>
          </a:prstGeom>
          <a:noFill/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3200" b="1" kern="100" dirty="0">
                <a:solidFill>
                  <a:srgbClr val="C4A044"/>
                </a:solidFill>
                <a:latin typeface="Eurostile" panose="020B0504020202050204" pitchFamily="34" charset="0"/>
                <a:ea typeface="GE SS Two Medium" panose="020A0503020102020204" pitchFamily="18" charset="-78"/>
                <a:cs typeface="GE SS Two Medium" panose="020A0503020102020204" pitchFamily="18" charset="-78"/>
              </a:rPr>
              <a:t>Capital Increase</a:t>
            </a:r>
          </a:p>
          <a:p>
            <a:pPr>
              <a:lnSpc>
                <a:spcPts val="2300"/>
              </a:lnSpc>
            </a:pPr>
            <a:r>
              <a:rPr lang="en-US" sz="1600" b="1" kern="100" dirty="0">
                <a:solidFill>
                  <a:srgbClr val="C4A044"/>
                </a:solidFill>
                <a:latin typeface="Eurostile" panose="020B0504020202050204" pitchFamily="34" charset="0"/>
                <a:ea typeface="GE SS Two Medium" panose="020A0503020102020204" pitchFamily="18" charset="-78"/>
                <a:cs typeface="GE SS Two Medium" panose="020A0503020102020204" pitchFamily="18" charset="-78"/>
              </a:rPr>
              <a:t>Capital increase for {{CO_EN_TITLE}}</a:t>
            </a:r>
          </a:p>
        </p:txBody>
      </p:sp>
      <p:pic>
        <p:nvPicPr>
          <p:cNvPr id="26" name="Picture 1">
            <a:extLst>
              <a:ext uri="{FF2B5EF4-FFF2-40B4-BE49-F238E27FC236}">
                <a16:creationId xmlns:a16="http://schemas.microsoft.com/office/drawing/2014/main" id="{29F337AB-EABA-42EF-75BB-D6C250E472C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rcRect/>
          <a:stretch/>
        </p:blipFill>
        <p:spPr>
          <a:xfrm>
            <a:off x="13012764" y="142925"/>
            <a:ext cx="1004430" cy="1004430"/>
          </a:xfrm>
          <a:prstGeom prst="rect">
            <a:avLst/>
          </a:prstGeom>
        </p:spPr>
      </p:pic>
      <p:cxnSp>
        <p:nvCxnSpPr>
          <p:cNvPr id="24" name="Connector 15">
            <a:extLst>
              <a:ext uri="{FF2B5EF4-FFF2-40B4-BE49-F238E27FC236}">
                <a16:creationId xmlns:a16="http://schemas.microsoft.com/office/drawing/2014/main" id="{152DD26C-7094-5357-AD1D-826D2013EAD2}"/>
              </a:ext>
            </a:extLst>
          </p:cNvPr>
          <p:cNvCxnSpPr/>
          <p:nvPr/>
        </p:nvCxnSpPr>
        <p:spPr>
          <a:xfrm>
            <a:off x="4315206" y="2158607"/>
            <a:ext cx="0" cy="5486399"/>
          </a:xfrm>
          <a:prstGeom prst="line">
            <a:avLst/>
          </a:prstGeom>
          <a:ln w="10160">
            <a:solidFill>
              <a:srgbClr val="DDE7E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15">
            <a:extLst>
              <a:ext uri="{FF2B5EF4-FFF2-40B4-BE49-F238E27FC236}">
                <a16:creationId xmlns:a16="http://schemas.microsoft.com/office/drawing/2014/main" id="{4959AD14-CF5A-4BF7-88BA-AC9259237A71}"/>
              </a:ext>
            </a:extLst>
          </p:cNvPr>
          <p:cNvCxnSpPr>
            <a:cxnSpLocks/>
          </p:cNvCxnSpPr>
          <p:nvPr/>
        </p:nvCxnSpPr>
        <p:spPr>
          <a:xfrm flipH="1">
            <a:off x="633600" y="1982746"/>
            <a:ext cx="7332429" cy="0"/>
          </a:xfrm>
          <a:prstGeom prst="line">
            <a:avLst/>
          </a:prstGeom>
          <a:ln w="10160">
            <a:solidFill>
              <a:srgbClr val="DDE7E8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B56E2EF2-1C81-827A-524F-DE1C7CDF0BB2}"/>
              </a:ext>
            </a:extLst>
          </p:cNvPr>
          <p:cNvSpPr txBox="1"/>
          <p:nvPr/>
        </p:nvSpPr>
        <p:spPr>
          <a:xfrm>
            <a:off x="530352" y="1746504"/>
            <a:ext cx="1247457" cy="21236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80" b="1" dirty="0">
                <a:solidFill>
                  <a:srgbClr val="66787C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DATE  </a:t>
            </a:r>
            <a:r>
              <a:rPr lang="en-US" sz="780" b="1" dirty="0">
                <a:solidFill>
                  <a:srgbClr val="66787C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{{D_DAY}}</a:t>
            </a:r>
            <a:r>
              <a:rPr lang="en-US" sz="780" b="1" baseline="30000" dirty="0">
                <a:solidFill>
                  <a:srgbClr val="66787C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{{D_SUF}}</a:t>
            </a:r>
            <a:r>
              <a:rPr lang="en-US" sz="780" b="1" dirty="0">
                <a:solidFill>
                  <a:srgbClr val="66787C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 {{D_MY_EN}}</a:t>
            </a:r>
            <a:endParaRPr sz="780" b="1" dirty="0">
              <a:solidFill>
                <a:srgbClr val="66787C"/>
              </a:solidFill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C07B9C0-3B4F-04E9-D04F-0AB9BEC838A1}"/>
              </a:ext>
            </a:extLst>
          </p:cNvPr>
          <p:cNvSpPr txBox="1"/>
          <p:nvPr/>
        </p:nvSpPr>
        <p:spPr>
          <a:xfrm>
            <a:off x="6929107" y="1744227"/>
            <a:ext cx="1002197" cy="2046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30" b="1" dirty="0">
                <a:solidFill>
                  <a:srgbClr val="839195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OFFICIAL CIRCULAR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EFD88A6-88B8-80F7-A4B7-D708598D7833}"/>
              </a:ext>
            </a:extLst>
          </p:cNvPr>
          <p:cNvSpPr/>
          <p:nvPr/>
        </p:nvSpPr>
        <p:spPr>
          <a:xfrm>
            <a:off x="8429373" y="7214608"/>
            <a:ext cx="6347076" cy="832430"/>
          </a:xfrm>
          <a:prstGeom prst="rect">
            <a:avLst/>
          </a:prstGeom>
          <a:solidFill>
            <a:srgbClr val="082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B9F22E03-460A-C504-E55A-C7F59D5BDF68}"/>
              </a:ext>
            </a:extLst>
          </p:cNvPr>
          <p:cNvSpPr/>
          <p:nvPr/>
        </p:nvSpPr>
        <p:spPr>
          <a:xfrm>
            <a:off x="8429373" y="7214608"/>
            <a:ext cx="1920240" cy="50292"/>
          </a:xfrm>
          <a:prstGeom prst="rect">
            <a:avLst/>
          </a:prstGeom>
          <a:solidFill>
            <a:srgbClr val="C4A0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4580F85A-6C98-804C-B294-22FCC0D68218}"/>
              </a:ext>
            </a:extLst>
          </p:cNvPr>
          <p:cNvSpPr/>
          <p:nvPr/>
        </p:nvSpPr>
        <p:spPr>
          <a:xfrm>
            <a:off x="10349613" y="7214608"/>
            <a:ext cx="4426837" cy="50292"/>
          </a:xfrm>
          <a:prstGeom prst="rect">
            <a:avLst/>
          </a:prstGeom>
          <a:solidFill>
            <a:srgbClr val="0078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Eurostile" panose="020B0504020202050204" pitchFamily="34" charset="0"/>
              <a:ea typeface="GE SS Text Light" panose="020A0503020102020204" pitchFamily="18" charset="-78"/>
              <a:cs typeface="GE SS Text Light" panose="020A0503020102020204" pitchFamily="18" charset="-78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C9DF95B-D6DB-59A3-2002-2D30F13A743F}"/>
              </a:ext>
            </a:extLst>
          </p:cNvPr>
          <p:cNvSpPr txBox="1"/>
          <p:nvPr/>
        </p:nvSpPr>
        <p:spPr>
          <a:xfrm>
            <a:off x="8877500" y="7691179"/>
            <a:ext cx="326937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1" dirty="0">
                <a:solidFill>
                  <a:srgbClr val="FFFFFF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Kuwait and Middle East Financial Investment Company</a:t>
            </a:r>
          </a:p>
          <a:p>
            <a:r>
              <a:rPr sz="800" dirty="0">
                <a:solidFill>
                  <a:srgbClr val="C9E0E2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+965 222 55555     •     www.kmefic.com</a:t>
            </a:r>
          </a:p>
        </p:txBody>
      </p:sp>
      <p:pic>
        <p:nvPicPr>
          <p:cNvPr id="44" name="Picture 43" descr="A qr code on a black background&#10;&#10;AI-generated content may be incorrect.">
            <a:hlinkClick r:id="rId7"/>
            <a:extLst>
              <a:ext uri="{FF2B5EF4-FFF2-40B4-BE49-F238E27FC236}">
                <a16:creationId xmlns:a16="http://schemas.microsoft.com/office/drawing/2014/main" id="{38A6082A-A8A3-2E92-B3D9-9963CAFF6615}"/>
              </a:ext>
            </a:extLst>
          </p:cNvPr>
          <p:cNvPicPr>
            <a:picLocks noChangeAspect="1"/>
          </p:cNvPicPr>
          <p:nvPr/>
        </p:nvPicPr>
        <p:blipFill>
          <a:blip r:embed="rId8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12741" y="7354420"/>
            <a:ext cx="572125" cy="572125"/>
          </a:xfrm>
          <a:prstGeom prst="rect">
            <a:avLst/>
          </a:prstGeom>
        </p:spPr>
      </p:pic>
      <p:grpSp>
        <p:nvGrpSpPr>
          <p:cNvPr id="53" name="Group 52">
            <a:extLst>
              <a:ext uri="{FF2B5EF4-FFF2-40B4-BE49-F238E27FC236}">
                <a16:creationId xmlns:a16="http://schemas.microsoft.com/office/drawing/2014/main" id="{61807F48-E6F2-B9A5-310C-3023CF22067B}"/>
              </a:ext>
            </a:extLst>
          </p:cNvPr>
          <p:cNvGrpSpPr/>
          <p:nvPr/>
        </p:nvGrpSpPr>
        <p:grpSpPr>
          <a:xfrm>
            <a:off x="8440989" y="7350629"/>
            <a:ext cx="1568244" cy="696411"/>
            <a:chOff x="8440989" y="7322880"/>
            <a:chExt cx="2433471" cy="1080632"/>
          </a:xfrm>
        </p:grpSpPr>
        <p:pic>
          <p:nvPicPr>
            <p:cNvPr id="46" name="Picture 45" descr="A flag of the kuwait&#10;&#10;AI-generated content may be incorrect.">
              <a:extLst>
                <a:ext uri="{FF2B5EF4-FFF2-40B4-BE49-F238E27FC236}">
                  <a16:creationId xmlns:a16="http://schemas.microsoft.com/office/drawing/2014/main" id="{3A22471C-ED43-1D96-5D9F-3B5A0AB4E2B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alphaModFix amt="5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0951" b="20158"/>
            <a:stretch>
              <a:fillRect/>
            </a:stretch>
          </p:blipFill>
          <p:spPr>
            <a:xfrm>
              <a:off x="8440989" y="7400917"/>
              <a:ext cx="612558" cy="339265"/>
            </a:xfrm>
            <a:prstGeom prst="rect">
              <a:avLst/>
            </a:prstGeom>
          </p:spPr>
        </p:pic>
        <p:pic>
          <p:nvPicPr>
            <p:cNvPr id="48" name="Picture 47" descr="A group of tall buildings with a black background&#10;&#10;AI-generated content may be incorrect.">
              <a:extLst>
                <a:ext uri="{FF2B5EF4-FFF2-40B4-BE49-F238E27FC236}">
                  <a16:creationId xmlns:a16="http://schemas.microsoft.com/office/drawing/2014/main" id="{41A75311-25A0-8704-C4BE-764B41105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lum bright="70000" contrast="-70000"/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138" t="8421" r="21502" b="8581"/>
            <a:stretch>
              <a:fillRect/>
            </a:stretch>
          </p:blipFill>
          <p:spPr>
            <a:xfrm>
              <a:off x="8513359" y="7443647"/>
              <a:ext cx="736610" cy="959865"/>
            </a:xfrm>
            <a:prstGeom prst="rect">
              <a:avLst/>
            </a:prstGeom>
            <a:effectLst>
              <a:outerShdw blurRad="50800" dist="38100" dir="16200000" rotWithShape="0">
                <a:prstClr val="black">
                  <a:alpha val="40000"/>
                </a:prstClr>
              </a:outerShdw>
            </a:effectLst>
          </p:spPr>
        </p:pic>
        <p:pic>
          <p:nvPicPr>
            <p:cNvPr id="50" name="Picture 49" descr="A black background with white text&#10;&#10;AI-generated content may be incorrect.">
              <a:extLst>
                <a:ext uri="{FF2B5EF4-FFF2-40B4-BE49-F238E27FC236}">
                  <a16:creationId xmlns:a16="http://schemas.microsoft.com/office/drawing/2014/main" id="{EC02A308-2389-3B81-C449-4A02DD52B919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887" t="62230" r="10717" b="13062"/>
            <a:stretch>
              <a:fillRect/>
            </a:stretch>
          </p:blipFill>
          <p:spPr>
            <a:xfrm>
              <a:off x="9118329" y="7322880"/>
              <a:ext cx="1756131" cy="555347"/>
            </a:xfrm>
            <a:prstGeom prst="rect">
              <a:avLst/>
            </a:prstGeom>
          </p:spPr>
        </p:pic>
      </p:grpSp>
      <p:sp>
        <p:nvSpPr>
          <p:cNvPr id="52" name="TextBox 51">
            <a:extLst>
              <a:ext uri="{FF2B5EF4-FFF2-40B4-BE49-F238E27FC236}">
                <a16:creationId xmlns:a16="http://schemas.microsoft.com/office/drawing/2014/main" id="{0F00A922-4C44-7AD0-DBDF-9AB4EDC77ABD}"/>
              </a:ext>
            </a:extLst>
          </p:cNvPr>
          <p:cNvSpPr txBox="1"/>
          <p:nvPr/>
        </p:nvSpPr>
        <p:spPr>
          <a:xfrm>
            <a:off x="13772371" y="7860456"/>
            <a:ext cx="1165752" cy="2000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b="1" dirty="0">
                <a:solidFill>
                  <a:srgbClr val="FFFFFF"/>
                </a:solidFill>
                <a:latin typeface="Eurostile" panose="020B0504020202050204" pitchFamily="34" charset="0"/>
                <a:ea typeface="GE SS Text Light" panose="020A0503020102020204" pitchFamily="18" charset="-78"/>
                <a:cs typeface="GE SS Text Light" panose="020A0503020102020204" pitchFamily="18" charset="-78"/>
              </a:rPr>
              <a:t>SCAN FOR MORE</a:t>
            </a:r>
          </a:p>
        </p:txBody>
      </p:sp>
      <p:cxnSp>
        <p:nvCxnSpPr>
          <p:cNvPr id="54" name="Connector 11">
            <a:extLst>
              <a:ext uri="{FF2B5EF4-FFF2-40B4-BE49-F238E27FC236}">
                <a16:creationId xmlns:a16="http://schemas.microsoft.com/office/drawing/2014/main" id="{482EFA16-05C2-5377-C839-035BA89D301A}"/>
              </a:ext>
            </a:extLst>
          </p:cNvPr>
          <p:cNvCxnSpPr>
            <a:cxnSpLocks/>
          </p:cNvCxnSpPr>
          <p:nvPr/>
        </p:nvCxnSpPr>
        <p:spPr>
          <a:xfrm>
            <a:off x="301752" y="2169795"/>
            <a:ext cx="0" cy="5676945"/>
          </a:xfrm>
          <a:prstGeom prst="line">
            <a:avLst/>
          </a:prstGeom>
          <a:ln w="15875">
            <a:solidFill>
              <a:srgbClr val="C4A044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13">
            <a:extLst>
              <a:ext uri="{FF2B5EF4-FFF2-40B4-BE49-F238E27FC236}">
                <a16:creationId xmlns:a16="http://schemas.microsoft.com/office/drawing/2014/main" id="{EA7389F3-9E57-6BE0-3444-D8FD0F7F9B06}"/>
              </a:ext>
            </a:extLst>
          </p:cNvPr>
          <p:cNvCxnSpPr>
            <a:cxnSpLocks/>
          </p:cNvCxnSpPr>
          <p:nvPr/>
        </p:nvCxnSpPr>
        <p:spPr>
          <a:xfrm>
            <a:off x="301752" y="7846740"/>
            <a:ext cx="7573366" cy="0"/>
          </a:xfrm>
          <a:prstGeom prst="line">
            <a:avLst/>
          </a:prstGeom>
          <a:ln w="15875">
            <a:solidFill>
              <a:srgbClr val="C4A044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8549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59694</TotalTime>
  <Words>427</Words>
  <Application>Microsoft Office PowerPoint</Application>
  <PresentationFormat>Custom</PresentationFormat>
  <Paragraphs>75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Eurostile</vt:lpstr>
      <vt:lpstr>GE SS Text Medium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Ahmed Rami</dc:creator>
  <cp:lastModifiedBy>Ahmed Rami</cp:lastModifiedBy>
  <cp:revision>75</cp:revision>
  <cp:lastPrinted>2026-07-20T09:20:08Z</cp:lastPrinted>
  <dcterms:created xsi:type="dcterms:W3CDTF">2023-10-02T08:23:54Z</dcterms:created>
  <dcterms:modified xsi:type="dcterms:W3CDTF">2026-10-25T08:39:32Z</dcterms:modified>
</cp:coreProperties>
</file>